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545088"/>
  <p:notesSz cx="6858000" cy="9144000"/>
  <p:defaultTextStyle>
    <a:defPPr>
      <a:defRPr lang="en-US"/>
    </a:defPPr>
    <a:lvl1pPr marL="0" algn="l" defTabSz="2119488" rtl="0" eaLnBrk="1" latinLnBrk="0" hangingPunct="1">
      <a:defRPr sz="4172" kern="1200">
        <a:solidFill>
          <a:schemeClr val="tx1"/>
        </a:solidFill>
        <a:latin typeface="+mn-lt"/>
        <a:ea typeface="+mn-ea"/>
        <a:cs typeface="+mn-cs"/>
      </a:defRPr>
    </a:lvl1pPr>
    <a:lvl2pPr marL="1059744" algn="l" defTabSz="2119488" rtl="0" eaLnBrk="1" latinLnBrk="0" hangingPunct="1">
      <a:defRPr sz="4172" kern="1200">
        <a:solidFill>
          <a:schemeClr val="tx1"/>
        </a:solidFill>
        <a:latin typeface="+mn-lt"/>
        <a:ea typeface="+mn-ea"/>
        <a:cs typeface="+mn-cs"/>
      </a:defRPr>
    </a:lvl2pPr>
    <a:lvl3pPr marL="2119488" algn="l" defTabSz="2119488" rtl="0" eaLnBrk="1" latinLnBrk="0" hangingPunct="1">
      <a:defRPr sz="4172" kern="1200">
        <a:solidFill>
          <a:schemeClr val="tx1"/>
        </a:solidFill>
        <a:latin typeface="+mn-lt"/>
        <a:ea typeface="+mn-ea"/>
        <a:cs typeface="+mn-cs"/>
      </a:defRPr>
    </a:lvl3pPr>
    <a:lvl4pPr marL="3179232" algn="l" defTabSz="2119488" rtl="0" eaLnBrk="1" latinLnBrk="0" hangingPunct="1">
      <a:defRPr sz="4172" kern="1200">
        <a:solidFill>
          <a:schemeClr val="tx1"/>
        </a:solidFill>
        <a:latin typeface="+mn-lt"/>
        <a:ea typeface="+mn-ea"/>
        <a:cs typeface="+mn-cs"/>
      </a:defRPr>
    </a:lvl4pPr>
    <a:lvl5pPr marL="4238976" algn="l" defTabSz="2119488" rtl="0" eaLnBrk="1" latinLnBrk="0" hangingPunct="1">
      <a:defRPr sz="4172" kern="1200">
        <a:solidFill>
          <a:schemeClr val="tx1"/>
        </a:solidFill>
        <a:latin typeface="+mn-lt"/>
        <a:ea typeface="+mn-ea"/>
        <a:cs typeface="+mn-cs"/>
      </a:defRPr>
    </a:lvl5pPr>
    <a:lvl6pPr marL="5298719" algn="l" defTabSz="2119488" rtl="0" eaLnBrk="1" latinLnBrk="0" hangingPunct="1">
      <a:defRPr sz="4172" kern="1200">
        <a:solidFill>
          <a:schemeClr val="tx1"/>
        </a:solidFill>
        <a:latin typeface="+mn-lt"/>
        <a:ea typeface="+mn-ea"/>
        <a:cs typeface="+mn-cs"/>
      </a:defRPr>
    </a:lvl6pPr>
    <a:lvl7pPr marL="6358463" algn="l" defTabSz="2119488" rtl="0" eaLnBrk="1" latinLnBrk="0" hangingPunct="1">
      <a:defRPr sz="4172" kern="1200">
        <a:solidFill>
          <a:schemeClr val="tx1"/>
        </a:solidFill>
        <a:latin typeface="+mn-lt"/>
        <a:ea typeface="+mn-ea"/>
        <a:cs typeface="+mn-cs"/>
      </a:defRPr>
    </a:lvl7pPr>
    <a:lvl8pPr marL="7418207" algn="l" defTabSz="2119488" rtl="0" eaLnBrk="1" latinLnBrk="0" hangingPunct="1">
      <a:defRPr sz="4172" kern="1200">
        <a:solidFill>
          <a:schemeClr val="tx1"/>
        </a:solidFill>
        <a:latin typeface="+mn-lt"/>
        <a:ea typeface="+mn-ea"/>
        <a:cs typeface="+mn-cs"/>
      </a:defRPr>
    </a:lvl8pPr>
    <a:lvl9pPr marL="8477951" algn="l" defTabSz="2119488" rtl="0" eaLnBrk="1" latinLnBrk="0" hangingPunct="1">
      <a:defRPr sz="417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36" y="-6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tableStyles" Target="tableStyles.xml" /><Relationship Id="rId5" Type="http://schemas.openxmlformats.org/officeDocument/2006/relationships/theme" Target="theme/theme1.xml" /><Relationship Id="rId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98932"/>
            <a:ext cx="18176081" cy="10634216"/>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6043244"/>
            <a:ext cx="16037719" cy="7374657"/>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22-11-2018</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81284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22-11-2018</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1008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615069"/>
            <a:ext cx="18443377" cy="12705906"/>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441178"/>
            <a:ext cx="18443377" cy="6681736"/>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3E2C6-8CDE-4FA4-9434-0173729C9153}" type="datetimeFigureOut">
              <a:rPr lang="en-IN" smtClean="0"/>
              <a:t>22-11-2018</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035159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53E2C6-8CDE-4FA4-9434-0173729C9153}" type="datetimeFigureOut">
              <a:rPr lang="en-IN" smtClean="0"/>
              <a:t>22-11-2018</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42816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26250"/>
            <a:ext cx="18443377" cy="59039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87791"/>
            <a:ext cx="9046274"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157442"/>
            <a:ext cx="9046274"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87791"/>
            <a:ext cx="9090826"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157442"/>
            <a:ext cx="9090826"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53E2C6-8CDE-4FA4-9434-0173729C9153}" type="datetimeFigureOut">
              <a:rPr lang="en-IN" smtClean="0"/>
              <a:t>22-11-2018</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5705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53E2C6-8CDE-4FA4-9434-0173729C9153}" type="datetimeFigureOut">
              <a:rPr lang="en-IN" smtClean="0"/>
              <a:t>22-11-2018</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1260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3E2C6-8CDE-4FA4-9434-0173729C9153}" type="datetimeFigureOut">
              <a:rPr lang="en-IN" smtClean="0"/>
              <a:t>22-11-2018</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20981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97934"/>
            <a:ext cx="10825460" cy="21706810"/>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22-11-2018</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2593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97934"/>
            <a:ext cx="10825460" cy="21706810"/>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dirty="0"/>
              <a:t>Click icon to add picture</a:t>
            </a:r>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22-11-2018</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42848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22-11-2018</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90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26243"/>
            <a:ext cx="4610844" cy="258855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26243"/>
            <a:ext cx="13565237" cy="25885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22-11-2018</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71007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26250"/>
            <a:ext cx="18443377" cy="59039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131215"/>
            <a:ext cx="18443377" cy="193805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310778"/>
            <a:ext cx="4811316" cy="1626243"/>
          </a:xfrm>
          <a:prstGeom prst="rect">
            <a:avLst/>
          </a:prstGeom>
        </p:spPr>
        <p:txBody>
          <a:bodyPr vert="horz" lIns="91440" tIns="45720" rIns="91440" bIns="45720" rtlCol="0" anchor="ctr"/>
          <a:lstStyle>
            <a:lvl1pPr algn="l">
              <a:defRPr sz="2806">
                <a:solidFill>
                  <a:schemeClr val="tx1">
                    <a:tint val="75000"/>
                  </a:schemeClr>
                </a:solidFill>
              </a:defRPr>
            </a:lvl1pPr>
          </a:lstStyle>
          <a:p>
            <a:fld id="{8453E2C6-8CDE-4FA4-9434-0173729C9153}" type="datetimeFigureOut">
              <a:rPr lang="en-IN" smtClean="0"/>
              <a:t>22-11-2018</a:t>
            </a:fld>
            <a:endParaRPr lang="en-IN" dirty="0"/>
          </a:p>
        </p:txBody>
      </p:sp>
      <p:sp>
        <p:nvSpPr>
          <p:cNvPr id="5" name="Footer Placeholder 4"/>
          <p:cNvSpPr>
            <a:spLocks noGrp="1"/>
          </p:cNvSpPr>
          <p:nvPr>
            <p:ph type="ftr" sz="quarter" idx="3"/>
          </p:nvPr>
        </p:nvSpPr>
        <p:spPr>
          <a:xfrm>
            <a:off x="7083326" y="28310778"/>
            <a:ext cx="7216973" cy="1626243"/>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102185" y="28310778"/>
            <a:ext cx="4811316" cy="1626243"/>
          </a:xfrm>
          <a:prstGeom prst="rect">
            <a:avLst/>
          </a:prstGeom>
        </p:spPr>
        <p:txBody>
          <a:bodyPr vert="horz" lIns="91440" tIns="45720" rIns="91440" bIns="45720" rtlCol="0" anchor="ctr"/>
          <a:lstStyle>
            <a:lvl1pPr algn="r">
              <a:defRPr sz="2806">
                <a:solidFill>
                  <a:schemeClr val="tx1">
                    <a:tint val="75000"/>
                  </a:schemeClr>
                </a:solidFill>
              </a:defRPr>
            </a:lvl1pPr>
          </a:lstStyle>
          <a:p>
            <a:fld id="{AA8FA1BF-A921-4444-88C6-9EFD5BFD1773}" type="slidenum">
              <a:rPr lang="en-IN" smtClean="0"/>
              <a:t>‹#›</a:t>
            </a:fld>
            <a:endParaRPr lang="en-IN" dirty="0"/>
          </a:p>
        </p:txBody>
      </p:sp>
    </p:spTree>
    <p:extLst>
      <p:ext uri="{BB962C8B-B14F-4D97-AF65-F5344CB8AC3E}">
        <p14:creationId xmlns:p14="http://schemas.microsoft.com/office/powerpoint/2010/main" val="28736146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 /><Relationship Id="rId3" Type="http://schemas.openxmlformats.org/officeDocument/2006/relationships/image" Target="../media/image2.png" /><Relationship Id="rId7"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6.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9812" y="365760"/>
            <a:ext cx="20664000" cy="29556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itle 3"/>
          <p:cNvSpPr txBox="1">
            <a:spLocks/>
          </p:cNvSpPr>
          <p:nvPr/>
        </p:nvSpPr>
        <p:spPr>
          <a:xfrm>
            <a:off x="2633472" y="365760"/>
            <a:ext cx="18390340" cy="1133856"/>
          </a:xfrm>
          <a:prstGeom prst="rect">
            <a:avLst/>
          </a:prstGeom>
        </p:spPr>
        <p:txBody>
          <a:bodyPr vert="horz" lIns="91440" tIns="45720" rIns="91440" bIns="45720" rtlCol="0" anchor="ctr">
            <a:normAutofit/>
          </a:bodyPr>
          <a:lst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a:lstStyle>
          <a:p>
            <a:r>
              <a:rPr lang="en-IN" sz="4800" b="1" dirty="0"/>
              <a:t>RFID BASED HOME SECURITY SYSTEM</a:t>
            </a:r>
          </a:p>
        </p:txBody>
      </p:sp>
      <p:sp>
        <p:nvSpPr>
          <p:cNvPr id="7" name="Text Placeholder 22"/>
          <p:cNvSpPr txBox="1">
            <a:spLocks/>
          </p:cNvSpPr>
          <p:nvPr/>
        </p:nvSpPr>
        <p:spPr>
          <a:xfrm>
            <a:off x="2633472" y="1499616"/>
            <a:ext cx="18390340" cy="692658"/>
          </a:xfrm>
          <a:prstGeom prst="rect">
            <a:avLst/>
          </a:prstGeom>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buNone/>
            </a:pPr>
            <a:r>
              <a:rPr lang="en-US" sz="4400" dirty="0"/>
              <a:t>Guided by-Dr. Rama Sreekanth Sir</a:t>
            </a:r>
          </a:p>
          <a:p>
            <a:pPr marL="0" indent="0">
              <a:buNone/>
            </a:pPr>
            <a:endParaRPr lang="en-US" sz="4400" dirty="0"/>
          </a:p>
        </p:txBody>
      </p:sp>
      <p:sp>
        <p:nvSpPr>
          <p:cNvPr id="10" name="Content Placeholder 10"/>
          <p:cNvSpPr txBox="1">
            <a:spLocks/>
          </p:cNvSpPr>
          <p:nvPr/>
        </p:nvSpPr>
        <p:spPr>
          <a:xfrm>
            <a:off x="299746" y="13316037"/>
            <a:ext cx="10350000" cy="16135837"/>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endParaRPr lang="en-IN" sz="2400" dirty="0"/>
          </a:p>
          <a:p>
            <a:r>
              <a:rPr lang="en-US" sz="2400" dirty="0"/>
              <a:t>The principle of operation of this project is based on the working of the RFID  Circuit. A Passive type RFID Card is used in this project. When this card is placed near the RFID Reader Module, the antenna coil in the Reader energies the coil in the RFID card through mutual induction. As a result, the microchip in the reader also gets enough power to turn it  on. Now the coil in the reader acts as an antenna and transfers the data in the microchip to the reader module through radio  communication. The reader module, then communicates with the microcontroller through UART protocol to transfer the data received from the card . When the circuit is powered ON, the microcontroller will initially display a message as “Swipe the Card” on the LCD display.</a:t>
            </a:r>
          </a:p>
          <a:p>
            <a:r>
              <a:rPr lang="en-US" sz="2400" dirty="0"/>
              <a:t>When the RFID Card or Tag is swiped against the RFID reader, it will detect the ID card and sends the unique card no. to the microcontroller via serial  terminal. With the help of suitable programming, we need to compare the received card no. with the numbers that are already stored in the microcontroller or any database like external memory unit . If the received number is matched with the already stored number, then the microcontroller will display the name of the card holder on the LCD and activates the motor driver IC. As a result, the door is opened for a predefined duration after which the door is automatically closed.</a:t>
            </a:r>
          </a:p>
          <a:p>
            <a:r>
              <a:rPr lang="en-US" sz="2400" dirty="0"/>
              <a:t>If there is no match for the received numbers with the stored numbers, then the microcontroller will not open the door and displays a message as “Access Denied” on the LCD display. </a:t>
            </a:r>
          </a:p>
          <a:p>
            <a:endParaRPr lang="en-US"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AU" sz="2400" dirty="0"/>
          </a:p>
          <a:p>
            <a:endParaRPr lang="en-AU" sz="2400" dirty="0"/>
          </a:p>
          <a:p>
            <a:endParaRPr lang="en-IN" sz="2400" dirty="0"/>
          </a:p>
        </p:txBody>
      </p:sp>
      <p:sp>
        <p:nvSpPr>
          <p:cNvPr id="11" name="Text Placeholder 68"/>
          <p:cNvSpPr txBox="1">
            <a:spLocks/>
          </p:cNvSpPr>
          <p:nvPr/>
        </p:nvSpPr>
        <p:spPr>
          <a:xfrm>
            <a:off x="10709812" y="3695439"/>
            <a:ext cx="10350000" cy="11804206"/>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With the help of suitable programming, we need to compare the received card no. with the numbers that are already stored in the microcontroller or any database like external memory unit.</a:t>
            </a:r>
          </a:p>
          <a:p>
            <a:r>
              <a:rPr lang="en-US" dirty="0"/>
              <a:t>If the received number is matched with the already stored number, then the microcontroller will display the name of the card holder on the LCD and activates the motor driver IC. As a result, the door is opened for a predefined duration after which the door is automatically closed.</a:t>
            </a:r>
          </a:p>
          <a:p>
            <a:r>
              <a:rPr lang="en-US" dirty="0"/>
              <a:t>If there is no match for the received numbers with the stored numbers, then the microcontroller will not open the door and displays a message as “Access Denied” on the LCD display</a:t>
            </a:r>
          </a:p>
        </p:txBody>
      </p:sp>
      <p:sp>
        <p:nvSpPr>
          <p:cNvPr id="3" name="Rectangle 2"/>
          <p:cNvSpPr/>
          <p:nvPr/>
        </p:nvSpPr>
        <p:spPr>
          <a:xfrm>
            <a:off x="359812" y="8784657"/>
            <a:ext cx="4057265" cy="646331"/>
          </a:xfrm>
          <a:prstGeom prst="rect">
            <a:avLst/>
          </a:prstGeom>
        </p:spPr>
        <p:txBody>
          <a:bodyPr wrap="none">
            <a:spAutoFit/>
          </a:bodyPr>
          <a:lstStyle/>
          <a:p>
            <a:pPr algn="ctr"/>
            <a:r>
              <a:rPr lang="en-US" sz="3600" dirty="0"/>
              <a:t>SCOPE of the Project</a:t>
            </a:r>
          </a:p>
        </p:txBody>
      </p:sp>
      <p:sp>
        <p:nvSpPr>
          <p:cNvPr id="12" name="Rectangle 11"/>
          <p:cNvSpPr/>
          <p:nvPr/>
        </p:nvSpPr>
        <p:spPr>
          <a:xfrm>
            <a:off x="10649746" y="3084269"/>
            <a:ext cx="2176733" cy="646331"/>
          </a:xfrm>
          <a:prstGeom prst="rect">
            <a:avLst/>
          </a:prstGeom>
        </p:spPr>
        <p:txBody>
          <a:bodyPr wrap="square">
            <a:spAutoFit/>
          </a:bodyPr>
          <a:lstStyle/>
          <a:p>
            <a:pPr algn="ctr"/>
            <a:r>
              <a:rPr lang="en-US" sz="3600" dirty="0"/>
              <a:t>Results</a:t>
            </a:r>
          </a:p>
        </p:txBody>
      </p:sp>
      <p:sp>
        <p:nvSpPr>
          <p:cNvPr id="13" name="Rectangle 12"/>
          <p:cNvSpPr/>
          <p:nvPr/>
        </p:nvSpPr>
        <p:spPr>
          <a:xfrm>
            <a:off x="358952" y="12517620"/>
            <a:ext cx="2706895" cy="646331"/>
          </a:xfrm>
          <a:prstGeom prst="rect">
            <a:avLst/>
          </a:prstGeom>
        </p:spPr>
        <p:txBody>
          <a:bodyPr wrap="none">
            <a:spAutoFit/>
          </a:bodyPr>
          <a:lstStyle/>
          <a:p>
            <a:r>
              <a:rPr lang="en-US" altLang="zh-CN" sz="3600" dirty="0"/>
              <a:t>Methodology</a:t>
            </a:r>
          </a:p>
        </p:txBody>
      </p:sp>
      <p:sp>
        <p:nvSpPr>
          <p:cNvPr id="14" name="Content Placeholder 10"/>
          <p:cNvSpPr txBox="1">
            <a:spLocks/>
          </p:cNvSpPr>
          <p:nvPr/>
        </p:nvSpPr>
        <p:spPr>
          <a:xfrm>
            <a:off x="353962" y="9503044"/>
            <a:ext cx="10350000" cy="256113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sz="2400" dirty="0"/>
              <a:t>We can add voice recognition to the system. Even though RFID Technology is secure, the security can be increased by integrating other security measures like facial detection, ﬁnger print scanner etc.  As the card details are stored in the micro controller, only a limited number of card details can be stored. This can be increased by implementing a memory unit like EEPROM.{electrically erasable PROM}.</a:t>
            </a:r>
          </a:p>
          <a:p>
            <a:endParaRPr lang="en-US" sz="2400" dirty="0"/>
          </a:p>
        </p:txBody>
      </p:sp>
      <p:sp>
        <p:nvSpPr>
          <p:cNvPr id="21" name="Text Placeholder 68"/>
          <p:cNvSpPr txBox="1">
            <a:spLocks/>
          </p:cNvSpPr>
          <p:nvPr/>
        </p:nvSpPr>
        <p:spPr>
          <a:xfrm>
            <a:off x="415402" y="3695438"/>
            <a:ext cx="10350000" cy="4707832"/>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Automatic identiﬁcation and access control system has become necessary to overcome the security threats faced by many. By installing the system at the entrance will only allow the  authorized persons to enter the premises. The system can also be installed at various points inside the premises to track the person’s movement and to restrict their access to sensitive areas in the premises</a:t>
            </a:r>
          </a:p>
          <a:p>
            <a:r>
              <a:rPr lang="en-US" dirty="0"/>
              <a:t>RFID- it stands for radio-frequency identification. RFID based access-control system allows </a:t>
            </a:r>
            <a:r>
              <a:rPr lang="en-US"/>
              <a:t>only  authorized people </a:t>
            </a:r>
            <a:r>
              <a:rPr lang="en-US" dirty="0"/>
              <a:t>to enter a particular area of an establishment. With the help of RFID technology we can create smart systems that can be used personnel identiﬁcation. RFID systems usually comprises of three components: an RFID Card, an RFID Reader Module and a host device. Active RFID Tags are battery powered and they have an electronically erasable and programmable memory so we use Passive RFID beside Active RFID(Passive RFID-coil and microchip charges through induction).</a:t>
            </a:r>
          </a:p>
        </p:txBody>
      </p:sp>
      <p:sp>
        <p:nvSpPr>
          <p:cNvPr id="22" name="Rectangle 21"/>
          <p:cNvSpPr/>
          <p:nvPr/>
        </p:nvSpPr>
        <p:spPr>
          <a:xfrm>
            <a:off x="323812" y="2794908"/>
            <a:ext cx="4858702" cy="646331"/>
          </a:xfrm>
          <a:prstGeom prst="rect">
            <a:avLst/>
          </a:prstGeom>
        </p:spPr>
        <p:txBody>
          <a:bodyPr wrap="none">
            <a:spAutoFit/>
          </a:bodyPr>
          <a:lstStyle/>
          <a:p>
            <a:pPr algn="ctr"/>
            <a:r>
              <a:rPr lang="en-US" sz="3600" dirty="0"/>
              <a:t>Motivation/ Introduction</a:t>
            </a:r>
          </a:p>
        </p:txBody>
      </p:sp>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811949" y="8537787"/>
            <a:ext cx="8784507" cy="7254366"/>
          </a:xfrm>
          <a:prstGeom prst="rect">
            <a:avLst/>
          </a:prstGeom>
          <a:noFill/>
          <a:extLst>
            <a:ext uri="{909E8E84-426E-40DD-AFC4-6F175D3DCCD1}">
              <a14:hiddenFill xmlns:a14="http://schemas.microsoft.com/office/drawing/2010/main">
                <a:solidFill>
                  <a:srgbClr val="FFFFFF"/>
                </a:solidFill>
              </a14:hiddenFill>
            </a:ext>
          </a:extLst>
        </p:spPr>
      </p:pic>
      <p:sp>
        <p:nvSpPr>
          <p:cNvPr id="27" name="Text Placeholder 68"/>
          <p:cNvSpPr txBox="1">
            <a:spLocks/>
          </p:cNvSpPr>
          <p:nvPr/>
        </p:nvSpPr>
        <p:spPr>
          <a:xfrm>
            <a:off x="10649746" y="22949972"/>
            <a:ext cx="10350000" cy="3613385"/>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Even though RFID Technology is secure, the security can be increased by integrating other security measures like facial detection, ﬁnger print scanner etc.  As the card details are stored in the micro controller, only a limited number of card details can be stored. This can be increased by implementing a memory unit like EEPROM.{electrically erasable PROM}.</a:t>
            </a:r>
          </a:p>
          <a:p>
            <a:endParaRPr lang="en-US" dirty="0"/>
          </a:p>
        </p:txBody>
      </p:sp>
      <p:sp>
        <p:nvSpPr>
          <p:cNvPr id="28" name="Rectangle 27"/>
          <p:cNvSpPr/>
          <p:nvPr/>
        </p:nvSpPr>
        <p:spPr>
          <a:xfrm>
            <a:off x="10650606" y="28041853"/>
            <a:ext cx="10362150" cy="1754326"/>
          </a:xfrm>
          <a:prstGeom prst="rect">
            <a:avLst/>
          </a:prstGeom>
        </p:spPr>
        <p:txBody>
          <a:bodyPr wrap="square">
            <a:spAutoFit/>
          </a:bodyPr>
          <a:lstStyle/>
          <a:p>
            <a:r>
              <a:rPr lang="en-US" sz="3600" dirty="0"/>
              <a:t>Acknowledgments/ References-</a:t>
            </a:r>
          </a:p>
          <a:p>
            <a:r>
              <a:rPr lang="en-US" sz="3600" dirty="0"/>
              <a:t>Electroicshub.com</a:t>
            </a:r>
            <a:endParaRPr lang="en-US" sz="2400" dirty="0"/>
          </a:p>
          <a:p>
            <a:pPr algn="ctr"/>
            <a:endParaRPr lang="en-US" sz="3600" dirty="0"/>
          </a:p>
        </p:txBody>
      </p:sp>
      <p:sp>
        <p:nvSpPr>
          <p:cNvPr id="29" name="Rectangle 28"/>
          <p:cNvSpPr/>
          <p:nvPr/>
        </p:nvSpPr>
        <p:spPr>
          <a:xfrm>
            <a:off x="10765402" y="22222832"/>
            <a:ext cx="4298614" cy="646331"/>
          </a:xfrm>
          <a:prstGeom prst="rect">
            <a:avLst/>
          </a:prstGeom>
        </p:spPr>
        <p:txBody>
          <a:bodyPr wrap="none">
            <a:spAutoFit/>
          </a:bodyPr>
          <a:lstStyle/>
          <a:p>
            <a:pPr algn="ctr"/>
            <a:r>
              <a:rPr lang="en-US" sz="3600" dirty="0"/>
              <a:t>Conclusion/ Summary</a:t>
            </a:r>
          </a:p>
        </p:txBody>
      </p:sp>
      <p:sp>
        <p:nvSpPr>
          <p:cNvPr id="30" name="Rectangle 29"/>
          <p:cNvSpPr/>
          <p:nvPr/>
        </p:nvSpPr>
        <p:spPr>
          <a:xfrm>
            <a:off x="10691811" y="26855865"/>
            <a:ext cx="10362150" cy="1015663"/>
          </a:xfrm>
          <a:prstGeom prst="rect">
            <a:avLst/>
          </a:prstGeom>
        </p:spPr>
        <p:txBody>
          <a:bodyPr wrap="square">
            <a:spAutoFit/>
          </a:bodyPr>
          <a:lstStyle/>
          <a:p>
            <a:r>
              <a:rPr lang="en-US" sz="3600" dirty="0"/>
              <a:t>Contact Details</a:t>
            </a:r>
            <a:endParaRPr lang="en-US" sz="2400" dirty="0"/>
          </a:p>
          <a:p>
            <a:r>
              <a:rPr lang="en-US" sz="2400" dirty="0"/>
              <a:t>Vbhupathi.g@vitap.ac.in</a:t>
            </a:r>
            <a:endParaRPr lang="en-US" sz="36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402" y="419068"/>
            <a:ext cx="2142948" cy="2069595"/>
          </a:xfrm>
          <a:prstGeom prst="rect">
            <a:avLst/>
          </a:prstGeom>
        </p:spPr>
      </p:pic>
      <p:pic>
        <p:nvPicPr>
          <p:cNvPr id="4" name="Picture 3">
            <a:extLst>
              <a:ext uri="{FF2B5EF4-FFF2-40B4-BE49-F238E27FC236}">
                <a16:creationId xmlns:a16="http://schemas.microsoft.com/office/drawing/2014/main" id="{DA5C2B3A-F54B-4E0F-92DA-5BF5189443B8}"/>
              </a:ext>
            </a:extLst>
          </p:cNvPr>
          <p:cNvPicPr>
            <a:picLocks noChangeAspect="1"/>
          </p:cNvPicPr>
          <p:nvPr/>
        </p:nvPicPr>
        <p:blipFill>
          <a:blip r:embed="rId4"/>
          <a:stretch>
            <a:fillRect/>
          </a:stretch>
        </p:blipFill>
        <p:spPr>
          <a:xfrm>
            <a:off x="3396665" y="22037384"/>
            <a:ext cx="6922262" cy="4162587"/>
          </a:xfrm>
          <a:prstGeom prst="rect">
            <a:avLst/>
          </a:prstGeom>
        </p:spPr>
      </p:pic>
      <p:pic>
        <p:nvPicPr>
          <p:cNvPr id="8" name="Picture 7">
            <a:extLst>
              <a:ext uri="{FF2B5EF4-FFF2-40B4-BE49-F238E27FC236}">
                <a16:creationId xmlns:a16="http://schemas.microsoft.com/office/drawing/2014/main" id="{F5C488E9-1984-4108-8A12-433B9EC69EBA}"/>
              </a:ext>
            </a:extLst>
          </p:cNvPr>
          <p:cNvPicPr>
            <a:picLocks noChangeAspect="1"/>
          </p:cNvPicPr>
          <p:nvPr/>
        </p:nvPicPr>
        <p:blipFill>
          <a:blip r:embed="rId5"/>
          <a:stretch>
            <a:fillRect/>
          </a:stretch>
        </p:blipFill>
        <p:spPr>
          <a:xfrm>
            <a:off x="415402" y="26546246"/>
            <a:ext cx="3578662" cy="2743438"/>
          </a:xfrm>
          <a:prstGeom prst="rect">
            <a:avLst/>
          </a:prstGeom>
        </p:spPr>
      </p:pic>
      <p:pic>
        <p:nvPicPr>
          <p:cNvPr id="9" name="Picture 8">
            <a:extLst>
              <a:ext uri="{FF2B5EF4-FFF2-40B4-BE49-F238E27FC236}">
                <a16:creationId xmlns:a16="http://schemas.microsoft.com/office/drawing/2014/main" id="{65882DED-7F70-4380-9167-ADCC36098528}"/>
              </a:ext>
            </a:extLst>
          </p:cNvPr>
          <p:cNvPicPr>
            <a:picLocks noChangeAspect="1"/>
          </p:cNvPicPr>
          <p:nvPr/>
        </p:nvPicPr>
        <p:blipFill>
          <a:blip r:embed="rId6"/>
          <a:stretch>
            <a:fillRect/>
          </a:stretch>
        </p:blipFill>
        <p:spPr>
          <a:xfrm>
            <a:off x="5370171" y="26504995"/>
            <a:ext cx="5182049" cy="2414021"/>
          </a:xfrm>
          <a:prstGeom prst="rect">
            <a:avLst/>
          </a:prstGeom>
        </p:spPr>
      </p:pic>
      <p:pic>
        <p:nvPicPr>
          <p:cNvPr id="15" name="Picture 14">
            <a:extLst>
              <a:ext uri="{FF2B5EF4-FFF2-40B4-BE49-F238E27FC236}">
                <a16:creationId xmlns:a16="http://schemas.microsoft.com/office/drawing/2014/main" id="{9C79A331-5783-4EBA-8D7A-D82D9B2ED7C4}"/>
              </a:ext>
            </a:extLst>
          </p:cNvPr>
          <p:cNvPicPr>
            <a:picLocks noChangeAspect="1"/>
          </p:cNvPicPr>
          <p:nvPr/>
        </p:nvPicPr>
        <p:blipFill>
          <a:blip r:embed="rId7"/>
          <a:stretch>
            <a:fillRect/>
          </a:stretch>
        </p:blipFill>
        <p:spPr>
          <a:xfrm>
            <a:off x="518686" y="22545997"/>
            <a:ext cx="2547160" cy="3513324"/>
          </a:xfrm>
          <a:prstGeom prst="rect">
            <a:avLst/>
          </a:prstGeom>
        </p:spPr>
      </p:pic>
      <p:pic>
        <p:nvPicPr>
          <p:cNvPr id="17" name="Picture 17">
            <a:extLst>
              <a:ext uri="{FF2B5EF4-FFF2-40B4-BE49-F238E27FC236}">
                <a16:creationId xmlns:a16="http://schemas.microsoft.com/office/drawing/2014/main" id="{E768462D-6CA4-604D-803D-05257D53A38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828642" y="15871181"/>
            <a:ext cx="8162925" cy="6210300"/>
          </a:xfrm>
          <a:prstGeom prst="rect">
            <a:avLst/>
          </a:prstGeom>
        </p:spPr>
      </p:pic>
    </p:spTree>
    <p:extLst>
      <p:ext uri="{BB962C8B-B14F-4D97-AF65-F5344CB8AC3E}">
        <p14:creationId xmlns:p14="http://schemas.microsoft.com/office/powerpoint/2010/main" val="3606041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ster_2016_m.potx" id="{C99F4834-73B2-44AB-9211-DD57E3EBE727}" vid="{C99B119E-4D31-4661-B76A-37761BBBC0B1}"/>
    </a:ext>
  </a:extLst>
</a:theme>
</file>

<file path=docProps/app.xml><?xml version="1.0" encoding="utf-8"?>
<Properties xmlns="http://schemas.openxmlformats.org/officeDocument/2006/extended-properties" xmlns:vt="http://schemas.openxmlformats.org/officeDocument/2006/docPropsVTypes">
  <Template/>
  <TotalTime>519</TotalTime>
  <Words>759</Words>
  <Application>Microsoft Office PowerPoint</Application>
  <PresentationFormat>Custom</PresentationFormat>
  <Paragraphs>38</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Jayasankar Variyar</dc:creator>
  <cp:lastModifiedBy>Rishita Yashoda</cp:lastModifiedBy>
  <cp:revision>28</cp:revision>
  <dcterms:created xsi:type="dcterms:W3CDTF">2016-03-28T06:32:15Z</dcterms:created>
  <dcterms:modified xsi:type="dcterms:W3CDTF">2018-11-22T06:55:07Z</dcterms:modified>
</cp:coreProperties>
</file>